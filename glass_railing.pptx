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72" autoAdjust="0"/>
    <p:restoredTop sz="94660"/>
  </p:normalViewPr>
  <p:slideViewPr>
    <p:cSldViewPr snapToGrid="0" snapToObjects="1">
      <p:cViewPr>
        <p:scale>
          <a:sx n="125" d="100"/>
          <a:sy n="125" d="100"/>
        </p:scale>
        <p:origin x="1116" y="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8205" y="442027"/>
            <a:ext cx="45127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고구려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파노라마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유리난간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공사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89862" y="7306491"/>
            <a:ext cx="3108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입면분할창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1세대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시공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500만원 (2W)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550만원 (3W)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056" y="9271853"/>
            <a:ext cx="69701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※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고구려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안전방충망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행위허가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대행비용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입주민동의서 대행비용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부가세가 모두 포함된 금액입니다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00"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※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입면분할창은 현장에 따라 금액 변동이 있을 수 있으며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방추가 할인은 적용되지 않습니다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.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그림 9" descr="하늘, 구름, 스크린샷, 창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A63833-A6E1-471E-ECF6-A696F6347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69" y="1040254"/>
            <a:ext cx="6789965" cy="5309905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8853756-4869-EF00-5D4C-4A35E97C19A3}"/>
              </a:ext>
            </a:extLst>
          </p:cNvPr>
          <p:cNvGraphicFramePr>
            <a:graphicFrameLocks noGrp="1"/>
          </p:cNvGraphicFramePr>
          <p:nvPr/>
        </p:nvGraphicFramePr>
        <p:xfrm>
          <a:off x="251025" y="6637510"/>
          <a:ext cx="7126768" cy="24977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384">
                  <a:extLst>
                    <a:ext uri="{9D8B030D-6E8A-4147-A177-3AD203B41FA5}">
                      <a16:colId xmlns:a16="http://schemas.microsoft.com/office/drawing/2014/main" val="178355750"/>
                    </a:ext>
                  </a:extLst>
                </a:gridCol>
                <a:gridCol w="3563384">
                  <a:extLst>
                    <a:ext uri="{9D8B030D-6E8A-4147-A177-3AD203B41FA5}">
                      <a16:colId xmlns:a16="http://schemas.microsoft.com/office/drawing/2014/main" val="2565003188"/>
                    </a:ext>
                  </a:extLst>
                </a:gridCol>
              </a:tblGrid>
              <a:tr h="60115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344723"/>
                  </a:ext>
                </a:extLst>
              </a:tr>
              <a:tr h="189662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0605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9DEB0FB-835A-563F-2BA1-57C5F4876D1C}"/>
              </a:ext>
            </a:extLst>
          </p:cNvPr>
          <p:cNvSpPr txBox="1"/>
          <p:nvPr/>
        </p:nvSpPr>
        <p:spPr>
          <a:xfrm>
            <a:off x="291819" y="6726351"/>
            <a:ext cx="34817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철제 난간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21F6A9-60A6-9B82-FFC0-E0A71BC4FE11}"/>
              </a:ext>
            </a:extLst>
          </p:cNvPr>
          <p:cNvSpPr txBox="1"/>
          <p:nvPr/>
        </p:nvSpPr>
        <p:spPr>
          <a:xfrm>
            <a:off x="3814409" y="6726351"/>
            <a:ext cx="34330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맑은 고딕" panose="020B0503020000020004" pitchFamily="50" charset="-127"/>
                <a:cs typeface="+mn-cs"/>
              </a:rPr>
              <a:t>입면분할창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205" y="7389893"/>
            <a:ext cx="348179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1세대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시공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- 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3</a:t>
            </a:r>
            <a:r>
              <a:rPr lang="en-US" sz="1500" b="1" dirty="0">
                <a:solidFill>
                  <a:prstClr val="black"/>
                </a:solidFill>
                <a:latin typeface="Malgun Gothic"/>
              </a:rPr>
              <a:t>7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0만원 (2W)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               - </a:t>
            </a:r>
            <a:r>
              <a:rPr lang="en-US" sz="1500" b="1" dirty="0">
                <a:solidFill>
                  <a:prstClr val="black"/>
                </a:solidFill>
                <a:latin typeface="Malgun Gothic"/>
              </a:rPr>
              <a:t>40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0만원 (3W)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3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세대 이상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공동구매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시공 시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 sz="1500">
                <a:latin typeface="Malgun Gothic"/>
              </a:defRPr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전체 시공 비용에서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100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 절감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 sz="1500">
                <a:latin typeface="Malgun Gothic"/>
              </a:defRPr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*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추가 설치 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– </a:t>
            </a:r>
            <a:r>
              <a:rPr lang="en-US" altLang="ko-KR" sz="1200" dirty="0">
                <a:solidFill>
                  <a:prstClr val="black"/>
                </a:solidFill>
                <a:latin typeface="Malgun Gothic"/>
                <a:ea typeface="맑은 고딕" panose="020B0503020000020004" pitchFamily="50" charset="-127"/>
              </a:rPr>
              <a:t>210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(2W)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918E5-49A1-A771-2930-F3A1E4954FBF}"/>
              </a:ext>
            </a:extLst>
          </p:cNvPr>
          <p:cNvSpPr txBox="1"/>
          <p:nvPr/>
        </p:nvSpPr>
        <p:spPr>
          <a:xfrm>
            <a:off x="3810000" y="7389894"/>
            <a:ext cx="3424645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1세대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시공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- 53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0만원 (2W)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               - 58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0만원 (3W)</a:t>
            </a: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endParaRPr kumimoji="0" lang="en-US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3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세대 이상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공동구매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시공 시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 sz="1500">
                <a:latin typeface="Malgun Gothic"/>
              </a:defRPr>
            </a:pP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전체 시공 비용에서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50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 절감</a:t>
            </a:r>
            <a:endParaRPr kumimoji="0" lang="en-US" altLang="ko-KR" sz="15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endParaRPr kumimoji="0" lang="en-US" altLang="ko-KR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latin typeface="Malgun Gothic"/>
              </a:defRPr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*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대창 가로 폭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1,700mm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이상 시 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50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만원 추가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맑은 고딕" panose="020B0503020000020004" pitchFamily="50" charset="-127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400" y="262679"/>
            <a:ext cx="3669594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/>
              <a:t>유리난간</a:t>
            </a:r>
            <a:r>
              <a:rPr lang="ko-KR" altLang="en-US" dirty="0"/>
              <a:t> 공사비 조견표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0530" y="777240"/>
            <a:ext cx="18501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/>
              <a:t>1. </a:t>
            </a:r>
            <a:r>
              <a:rPr sz="1400" b="1" dirty="0" err="1"/>
              <a:t>철제난간</a:t>
            </a:r>
            <a:r>
              <a:rPr sz="1400" b="1" dirty="0"/>
              <a:t> </a:t>
            </a:r>
            <a:r>
              <a:rPr sz="1400" b="1" dirty="0" err="1"/>
              <a:t>철거</a:t>
            </a:r>
            <a:endParaRPr lang="en-US" sz="1400" b="1" dirty="0"/>
          </a:p>
          <a:p>
            <a:r>
              <a:rPr sz="1400" b="1" dirty="0"/>
              <a:t> – </a:t>
            </a:r>
            <a:r>
              <a:rPr sz="1400" b="1" dirty="0" err="1"/>
              <a:t>시공</a:t>
            </a:r>
            <a:r>
              <a:rPr sz="1400" b="1" dirty="0"/>
              <a:t> </a:t>
            </a:r>
            <a:r>
              <a:rPr sz="1400" b="1" dirty="0" err="1"/>
              <a:t>금액</a:t>
            </a:r>
            <a:endParaRPr sz="1400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45793"/>
              </p:ext>
            </p:extLst>
          </p:nvPr>
        </p:nvGraphicFramePr>
        <p:xfrm>
          <a:off x="430530" y="1256918"/>
          <a:ext cx="6802119" cy="1821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7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7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879">
                <a:tc>
                  <a:txBody>
                    <a:bodyPr/>
                    <a:lstStyle/>
                    <a:p>
                      <a:pPr algn="ctr"/>
                      <a:r>
                        <a:rPr sz="1400" dirty="0" err="1"/>
                        <a:t>타입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세대수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행사가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  <a:r>
                        <a:rPr sz="1400" dirty="0"/>
                        <a:t>,</a:t>
                      </a:r>
                      <a:r>
                        <a:rPr lang="en-US" sz="1400" dirty="0"/>
                        <a:t>0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3,</a:t>
                      </a:r>
                      <a:r>
                        <a:rPr lang="en-US" sz="1400" dirty="0"/>
                        <a:t>7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3세대 </a:t>
                      </a:r>
                      <a:r>
                        <a:rPr sz="1400" dirty="0" err="1"/>
                        <a:t>이상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3,0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790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3세대 </a:t>
                      </a:r>
                      <a:r>
                        <a:rPr sz="1400" dirty="0" err="1"/>
                        <a:t>이상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2,</a:t>
                      </a:r>
                      <a:r>
                        <a:rPr lang="en-US" sz="1400" dirty="0"/>
                        <a:t>7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30530" y="3101088"/>
            <a:ext cx="33522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dirty="0"/>
              <a:t> </a:t>
            </a:r>
            <a:r>
              <a:rPr lang="en-US" altLang="ko-KR" sz="1400" b="1" dirty="0"/>
              <a:t>– </a:t>
            </a:r>
            <a:r>
              <a:rPr lang="en-US" sz="1400" b="1" dirty="0"/>
              <a:t> </a:t>
            </a:r>
            <a:r>
              <a:rPr sz="1400" b="1" dirty="0" err="1"/>
              <a:t>방추가시</a:t>
            </a:r>
            <a:r>
              <a:rPr sz="1400" b="1" dirty="0"/>
              <a:t> </a:t>
            </a:r>
            <a:r>
              <a:rPr sz="1400" b="1" dirty="0" err="1"/>
              <a:t>할인</a:t>
            </a:r>
            <a:r>
              <a:rPr sz="1400" b="1" dirty="0"/>
              <a:t> </a:t>
            </a:r>
            <a:r>
              <a:rPr sz="1400" b="1" dirty="0" err="1"/>
              <a:t>금액</a:t>
            </a:r>
            <a:r>
              <a:rPr sz="1400" b="1" dirty="0"/>
              <a:t> (3세대 </a:t>
            </a:r>
            <a:r>
              <a:rPr sz="1400" b="1" dirty="0" err="1"/>
              <a:t>이상</a:t>
            </a:r>
            <a:r>
              <a:rPr sz="1400" b="1" dirty="0"/>
              <a:t> </a:t>
            </a:r>
            <a:r>
              <a:rPr lang="ko-KR" altLang="en-US" sz="1400" b="1" dirty="0"/>
              <a:t>같음</a:t>
            </a:r>
            <a:r>
              <a:rPr sz="1400" b="1" dirty="0"/>
              <a:t>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995010"/>
              </p:ext>
            </p:extLst>
          </p:nvPr>
        </p:nvGraphicFramePr>
        <p:xfrm>
          <a:off x="443865" y="3420475"/>
          <a:ext cx="6675120" cy="12975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526">
                <a:tc>
                  <a:txBody>
                    <a:bodyPr/>
                    <a:lstStyle/>
                    <a:p>
                      <a:pPr algn="ctr"/>
                      <a:r>
                        <a:rPr sz="1400" dirty="0" err="1"/>
                        <a:t>타입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/>
                        <a:t>세대수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행사가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26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2,</a:t>
                      </a:r>
                      <a:r>
                        <a:rPr lang="en-US" sz="1400" dirty="0"/>
                        <a:t>4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526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2.1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3865" y="4665504"/>
            <a:ext cx="16979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b="1" dirty="0"/>
              <a:t>2</a:t>
            </a:r>
            <a:r>
              <a:rPr sz="1400" b="1" dirty="0"/>
              <a:t>. </a:t>
            </a:r>
            <a:r>
              <a:rPr sz="1400" b="1" dirty="0" err="1"/>
              <a:t>입면분할창</a:t>
            </a:r>
            <a:r>
              <a:rPr sz="1400" b="1" dirty="0"/>
              <a:t> </a:t>
            </a:r>
            <a:r>
              <a:rPr sz="1400" b="1" dirty="0" err="1"/>
              <a:t>철거</a:t>
            </a:r>
            <a:r>
              <a:rPr sz="1400" b="1" dirty="0"/>
              <a:t> </a:t>
            </a:r>
            <a:endParaRPr lang="en-US" sz="1400" b="1" dirty="0"/>
          </a:p>
          <a:p>
            <a:r>
              <a:rPr sz="1400" b="1" dirty="0"/>
              <a:t>– </a:t>
            </a:r>
            <a:r>
              <a:rPr sz="1400" b="1" dirty="0" err="1"/>
              <a:t>시공</a:t>
            </a:r>
            <a:r>
              <a:rPr sz="1400" b="1" dirty="0"/>
              <a:t> </a:t>
            </a:r>
            <a:r>
              <a:rPr sz="1400" b="1" dirty="0" err="1"/>
              <a:t>금액</a:t>
            </a:r>
            <a:endParaRPr sz="1400" b="1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786131"/>
              </p:ext>
            </p:extLst>
          </p:nvPr>
        </p:nvGraphicFramePr>
        <p:xfrm>
          <a:off x="457201" y="5399814"/>
          <a:ext cx="6596677" cy="28297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74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 dirty="0" err="1"/>
                        <a:t>타입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 err="1"/>
                        <a:t>세대수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dirty="0"/>
                        <a:t>행사가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3W(</a:t>
                      </a:r>
                      <a:r>
                        <a:rPr sz="1400" dirty="0" err="1"/>
                        <a:t>대창</a:t>
                      </a:r>
                      <a:r>
                        <a:rPr sz="1400" dirty="0"/>
                        <a:t> 1</a:t>
                      </a:r>
                      <a:r>
                        <a:rPr lang="en-US" sz="1400" dirty="0"/>
                        <a:t>,</a:t>
                      </a:r>
                      <a:r>
                        <a:rPr sz="1400" dirty="0"/>
                        <a:t>700</a:t>
                      </a:r>
                      <a:r>
                        <a:rPr lang="ko-KR" altLang="en-US" sz="1400" dirty="0"/>
                        <a:t>이상</a:t>
                      </a:r>
                      <a:r>
                        <a:rPr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6,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2W(</a:t>
                      </a:r>
                      <a:r>
                        <a:rPr sz="1400" dirty="0" err="1"/>
                        <a:t>대창</a:t>
                      </a:r>
                      <a:r>
                        <a:rPr sz="1400" dirty="0"/>
                        <a:t> 1</a:t>
                      </a:r>
                      <a:r>
                        <a:rPr lang="en-US" sz="1400" dirty="0"/>
                        <a:t>,</a:t>
                      </a:r>
                      <a:r>
                        <a:rPr sz="1400" dirty="0"/>
                        <a:t>700</a:t>
                      </a:r>
                      <a:r>
                        <a:rPr lang="ko-KR" altLang="en-US" sz="1400" dirty="0"/>
                        <a:t>이상</a:t>
                      </a:r>
                      <a:r>
                        <a:rPr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8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3W(</a:t>
                      </a:r>
                      <a:r>
                        <a:rPr sz="1400" dirty="0" err="1"/>
                        <a:t>대창</a:t>
                      </a:r>
                      <a:r>
                        <a:rPr sz="1400" dirty="0"/>
                        <a:t> 1</a:t>
                      </a:r>
                      <a:r>
                        <a:rPr lang="en-US" sz="1400" dirty="0"/>
                        <a:t>,</a:t>
                      </a:r>
                      <a:r>
                        <a:rPr sz="1400" dirty="0"/>
                        <a:t>700</a:t>
                      </a:r>
                      <a:r>
                        <a:rPr lang="ko-KR" altLang="en-US" sz="1400" dirty="0"/>
                        <a:t>이상</a:t>
                      </a:r>
                      <a:r>
                        <a:rPr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3세대 </a:t>
                      </a:r>
                      <a:r>
                        <a:rPr sz="1400" dirty="0" err="1"/>
                        <a:t>이상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8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2W(</a:t>
                      </a:r>
                      <a:r>
                        <a:rPr sz="1400" dirty="0" err="1"/>
                        <a:t>대창</a:t>
                      </a:r>
                      <a:r>
                        <a:rPr sz="1400" dirty="0"/>
                        <a:t> 1</a:t>
                      </a:r>
                      <a:r>
                        <a:rPr lang="en-US" sz="1400" dirty="0"/>
                        <a:t>,</a:t>
                      </a:r>
                      <a:r>
                        <a:rPr sz="1400" dirty="0"/>
                        <a:t>700</a:t>
                      </a:r>
                      <a:r>
                        <a:rPr lang="ko-KR" altLang="en-US" sz="1400" dirty="0"/>
                        <a:t>이상</a:t>
                      </a:r>
                      <a:r>
                        <a:rPr sz="1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3세대 </a:t>
                      </a:r>
                      <a:r>
                        <a:rPr sz="1400" dirty="0" err="1"/>
                        <a:t>이상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8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1세대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3세대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5,</a:t>
                      </a:r>
                      <a:r>
                        <a:rPr lang="en-US" sz="1400" dirty="0"/>
                        <a:t>3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421">
                <a:tc>
                  <a:txBody>
                    <a:bodyPr/>
                    <a:lstStyle/>
                    <a:p>
                      <a:pPr algn="ctr"/>
                      <a:r>
                        <a:rPr sz="1400"/>
                        <a:t>2W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3세대 </a:t>
                      </a:r>
                      <a:r>
                        <a:rPr sz="1400" dirty="0" err="1"/>
                        <a:t>이상</a:t>
                      </a:r>
                      <a:endParaRPr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dirty="0"/>
                        <a:t>4,</a:t>
                      </a:r>
                      <a:r>
                        <a:rPr lang="en-US" sz="1400" dirty="0"/>
                        <a:t>8</a:t>
                      </a:r>
                      <a:r>
                        <a:rPr sz="1400" dirty="0"/>
                        <a:t>00,000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24180" y="8346520"/>
            <a:ext cx="6030818" cy="9387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/>
              <a:t>1. </a:t>
            </a:r>
            <a:r>
              <a:rPr sz="1100" dirty="0" err="1"/>
              <a:t>안전방충망</a:t>
            </a:r>
            <a:r>
              <a:rPr sz="1100" dirty="0"/>
              <a:t>(0.4mm) </a:t>
            </a:r>
            <a:r>
              <a:rPr sz="1100" dirty="0" err="1"/>
              <a:t>설치</a:t>
            </a:r>
            <a:r>
              <a:rPr sz="1100" dirty="0"/>
              <a:t> </a:t>
            </a:r>
            <a:r>
              <a:rPr sz="1100" dirty="0" err="1"/>
              <a:t>옵션</a:t>
            </a:r>
            <a:endParaRPr sz="1100" dirty="0"/>
          </a:p>
          <a:p>
            <a:r>
              <a:rPr sz="1100" dirty="0"/>
              <a:t>2. </a:t>
            </a:r>
            <a:r>
              <a:rPr sz="1100" dirty="0" err="1"/>
              <a:t>프레임</a:t>
            </a:r>
            <a:r>
              <a:rPr sz="1100" dirty="0"/>
              <a:t> </a:t>
            </a:r>
            <a:r>
              <a:rPr sz="1100" dirty="0" err="1"/>
              <a:t>색상</a:t>
            </a:r>
            <a:r>
              <a:rPr sz="1100" dirty="0"/>
              <a:t>: </a:t>
            </a:r>
            <a:r>
              <a:rPr sz="1100" dirty="0" err="1"/>
              <a:t>지정색</a:t>
            </a:r>
            <a:endParaRPr sz="1100" dirty="0"/>
          </a:p>
          <a:p>
            <a:r>
              <a:rPr sz="1100" dirty="0"/>
              <a:t>3. </a:t>
            </a:r>
            <a:r>
              <a:rPr sz="1100" dirty="0" err="1"/>
              <a:t>공동구매</a:t>
            </a:r>
            <a:r>
              <a:rPr sz="1100" dirty="0"/>
              <a:t> </a:t>
            </a:r>
            <a:r>
              <a:rPr sz="1100" dirty="0" err="1"/>
              <a:t>할인</a:t>
            </a:r>
            <a:r>
              <a:rPr lang="ko-KR" altLang="en-US" sz="1100" dirty="0"/>
              <a:t>은</a:t>
            </a:r>
            <a:r>
              <a:rPr sz="1100" dirty="0"/>
              <a:t> 3세대 </a:t>
            </a:r>
            <a:r>
              <a:rPr sz="1100" dirty="0" err="1"/>
              <a:t>이상</a:t>
            </a:r>
            <a:r>
              <a:rPr sz="1100" dirty="0"/>
              <a:t> </a:t>
            </a:r>
            <a:r>
              <a:rPr lang="ko-KR" altLang="en-US" sz="1100" dirty="0"/>
              <a:t>동시 발주 시 가능</a:t>
            </a:r>
            <a:r>
              <a:rPr lang="en-US" altLang="ko-KR" sz="1100" dirty="0"/>
              <a:t>(</a:t>
            </a:r>
            <a:r>
              <a:rPr sz="1100" dirty="0" err="1"/>
              <a:t>동일</a:t>
            </a:r>
            <a:r>
              <a:rPr sz="1100" dirty="0"/>
              <a:t> </a:t>
            </a:r>
            <a:r>
              <a:rPr sz="1100" dirty="0" err="1"/>
              <a:t>아파트</a:t>
            </a:r>
            <a:r>
              <a:rPr sz="1100" dirty="0"/>
              <a:t> </a:t>
            </a:r>
            <a:r>
              <a:rPr sz="1100" dirty="0" err="1"/>
              <a:t>단지</a:t>
            </a:r>
            <a:r>
              <a:rPr lang="en-US" sz="1100" dirty="0"/>
              <a:t>)</a:t>
            </a:r>
            <a:endParaRPr sz="1100" dirty="0"/>
          </a:p>
          <a:p>
            <a:r>
              <a:rPr lang="en-US" sz="1100" dirty="0"/>
              <a:t>4</a:t>
            </a:r>
            <a:r>
              <a:rPr sz="1100" dirty="0"/>
              <a:t>. </a:t>
            </a:r>
            <a:r>
              <a:rPr sz="1100" dirty="0" err="1"/>
              <a:t>입면분할창</a:t>
            </a:r>
            <a:r>
              <a:rPr sz="1100" dirty="0"/>
              <a:t> </a:t>
            </a:r>
            <a:r>
              <a:rPr sz="1100" dirty="0" err="1"/>
              <a:t>대창</a:t>
            </a:r>
            <a:r>
              <a:rPr sz="1100" dirty="0"/>
              <a:t> </a:t>
            </a:r>
            <a:r>
              <a:rPr lang="ko-KR" altLang="en-US" sz="1100" dirty="0"/>
              <a:t>사이즈 </a:t>
            </a:r>
            <a:r>
              <a:rPr sz="1100" dirty="0" err="1"/>
              <a:t>기준</a:t>
            </a:r>
            <a:r>
              <a:rPr lang="en-US" sz="1100" dirty="0"/>
              <a:t> </a:t>
            </a:r>
            <a:r>
              <a:rPr sz="1100" dirty="0"/>
              <a:t>: </a:t>
            </a:r>
            <a:r>
              <a:rPr sz="1100" dirty="0" err="1"/>
              <a:t>창틀</a:t>
            </a:r>
            <a:r>
              <a:rPr sz="1100" dirty="0"/>
              <a:t> </a:t>
            </a:r>
            <a:r>
              <a:rPr sz="1100" dirty="0" err="1"/>
              <a:t>가로</a:t>
            </a:r>
            <a:r>
              <a:rPr sz="1100" dirty="0"/>
              <a:t> 폭</a:t>
            </a:r>
            <a:r>
              <a:rPr lang="en-US" sz="1100" dirty="0"/>
              <a:t>(</a:t>
            </a:r>
            <a:r>
              <a:rPr lang="ko-KR" altLang="en-US" sz="1100" dirty="0"/>
              <a:t>대창</a:t>
            </a:r>
            <a:r>
              <a:rPr lang="en-US" altLang="ko-KR" sz="1100" dirty="0"/>
              <a:t>) /</a:t>
            </a:r>
            <a:r>
              <a:rPr lang="ko-KR" altLang="en-US" sz="1100" dirty="0"/>
              <a:t>입면분할창 철거 시 방추가 할인 적용 불가</a:t>
            </a:r>
            <a:endParaRPr lang="en-US" altLang="ko-KR" sz="1100" dirty="0"/>
          </a:p>
          <a:p>
            <a:r>
              <a:rPr lang="en-US" sz="1100" dirty="0"/>
              <a:t>5</a:t>
            </a:r>
            <a:r>
              <a:rPr sz="1100" dirty="0"/>
              <a:t>. </a:t>
            </a:r>
            <a:r>
              <a:rPr sz="1100" dirty="0" err="1"/>
              <a:t>부가세</a:t>
            </a:r>
            <a:r>
              <a:rPr sz="1100" dirty="0"/>
              <a:t> </a:t>
            </a:r>
            <a:r>
              <a:rPr sz="1100" dirty="0" err="1"/>
              <a:t>포함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웹사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7A28B-309C-5271-6A0D-7CE469989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21" y="334433"/>
            <a:ext cx="6885673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8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349</Words>
  <Application>Microsoft Office PowerPoint</Application>
  <PresentationFormat>사용자 지정</PresentationFormat>
  <Paragraphs>86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김정호</dc:creator>
  <cp:keywords/>
  <dc:description>generated using python-pptx</dc:description>
  <cp:lastModifiedBy>kim kisung</cp:lastModifiedBy>
  <cp:revision>5</cp:revision>
  <dcterms:created xsi:type="dcterms:W3CDTF">2013-01-27T09:14:16Z</dcterms:created>
  <dcterms:modified xsi:type="dcterms:W3CDTF">2025-12-28T09:22:03Z</dcterms:modified>
  <cp:category/>
</cp:coreProperties>
</file>